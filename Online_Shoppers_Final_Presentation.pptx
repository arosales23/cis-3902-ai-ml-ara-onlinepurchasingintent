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5053" autoAdjust="0"/>
  </p:normalViewPr>
  <p:slideViewPr>
    <p:cSldViewPr snapToGrid="0" snapToObjects="1">
      <p:cViewPr varScale="1">
        <p:scale>
          <a:sx n="48" d="100"/>
          <a:sy n="48" d="100"/>
        </p:scale>
        <p:origin x="29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12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emf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0"/>
            <a:ext cx="2926080" cy="2286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65615" y="228600"/>
            <a:ext cx="29260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29070" y="246888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0000" b="1" dirty="0">
                <a:solidFill>
                  <a:srgbClr val="001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50000" dirty="0"/>
          </a:p>
        </p:txBody>
      </p:sp>
      <p:sp>
        <p:nvSpPr>
          <p:cNvPr id="6" name="Text 4"/>
          <p:cNvSpPr/>
          <p:nvPr/>
        </p:nvSpPr>
        <p:spPr>
          <a:xfrm>
            <a:off x="73152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7315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 ·  FINAL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Shoppers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Shoppers Purchasing Intention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06240" y="493776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5029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Alan Rosales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680960" y="493776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0" y="5029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04/29/2026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088575" y="59893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01F5B">
              <a:alpha val="0"/>
            </a:srgbClr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88575" y="5989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3902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43055" y="6400800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68580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4592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problem, clarify the target, justify the work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4754880" cy="43891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  <a:effectLst>
            <a:outerShdw blurRad="177800" dist="508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1828800"/>
            <a:ext cx="731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5740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724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77240" y="3200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businesses need to identify which visitors are likely to make a purchase. This model predicts online purchase intent to help retailers, digital marketing agencies, and analytics firms improve conversion rates and profitability.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577840" y="1828800"/>
            <a:ext cx="6126480" cy="1325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577840" y="1828800"/>
            <a:ext cx="91440" cy="1325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852160" y="19659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23" name="Text 19"/>
          <p:cNvSpPr/>
          <p:nvPr/>
        </p:nvSpPr>
        <p:spPr>
          <a:xfrm>
            <a:off x="68122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6812280" y="2468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which site visitors will convert to buyers is critical for e-commerce survival. Accurate prediction enables targeted marketing, better UX decisions, and revenue growth.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577840" y="3337560"/>
            <a:ext cx="6126480" cy="1325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577840" y="3337560"/>
            <a:ext cx="91440" cy="1325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852160" y="3474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28" name="Text 24"/>
          <p:cNvSpPr/>
          <p:nvPr/>
        </p:nvSpPr>
        <p:spPr>
          <a:xfrm>
            <a:off x="681228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6812280" y="3977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predicting the Revenue variable (True/False) — whether a website session results in a purchase.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577840" y="4846320"/>
            <a:ext cx="6126480" cy="1325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577840" y="4846320"/>
            <a:ext cx="91440" cy="1325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852160" y="49834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33" name="Text 29"/>
          <p:cNvSpPr/>
          <p:nvPr/>
        </p:nvSpPr>
        <p:spPr>
          <a:xfrm>
            <a:off x="681228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6812280" y="54864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retailers can use predictions to personalize offers in real time. Digital marketing agencies benefit from smarter budget allocation. Analytics firms can offer richer customer journey insights.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43055" y="6400800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68580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Domain Context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4592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 and why it fits the problem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3931920" cy="43891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  <a:effectLst>
            <a:outerShdw blurRad="177800" dist="508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1828800"/>
            <a:ext cx="731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26060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196596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96596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observations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" y="3703320"/>
            <a:ext cx="3200400" cy="0"/>
          </a:xfrm>
          <a:prstGeom prst="line">
            <a:avLst/>
          </a:prstGeom>
          <a:noFill/>
          <a:ln w="9525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240" y="3794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196596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96596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df.info()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" y="4892040"/>
            <a:ext cx="3200400" cy="0"/>
          </a:xfrm>
          <a:prstGeom prst="line">
            <a:avLst/>
          </a:prstGeom>
          <a:noFill/>
          <a:ln w="9525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965960" y="5074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Type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965960" y="5486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- Binary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1828800"/>
            <a:ext cx="7040880" cy="1325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663440" y="1828800"/>
            <a:ext cx="91440" cy="132588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983480" y="214884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2313432"/>
            <a:ext cx="356616" cy="35661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85216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Citation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5852160" y="24231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 — Online Shoppers Purchasing Intention Dataset. Sakar, C.O. et al. (2019). Also available on Kaggle (henrysue/online-shoppers-intention). Open access.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4663440" y="3337560"/>
            <a:ext cx="7040880" cy="1325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4663440" y="3337560"/>
            <a:ext cx="91440" cy="132588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4983480" y="365760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3822192"/>
            <a:ext cx="356616" cy="35661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852160" y="3520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&amp; Structure</a:t>
            </a:r>
            <a:endParaRPr lang="en-US" sz="1700" dirty="0"/>
          </a:p>
        </p:txBody>
      </p:sp>
      <p:sp>
        <p:nvSpPr>
          <p:cNvPr id="40" name="Text 35"/>
          <p:cNvSpPr/>
          <p:nvPr/>
        </p:nvSpPr>
        <p:spPr>
          <a:xfrm>
            <a:off x="5852160" y="39319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 sessions, 18 features (10 numeric, 7 categorical + 1 boolean target). Key features include page duration metrics, bounce rates, special day proximity, visitor type, and month.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4663440" y="4846320"/>
            <a:ext cx="7040880" cy="1325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4663440" y="4846320"/>
            <a:ext cx="91440" cy="132588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4983480" y="51663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5330952"/>
            <a:ext cx="356616" cy="356616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852160" y="5029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Relevance</a:t>
            </a:r>
            <a:endParaRPr lang="en-US" sz="1700" dirty="0"/>
          </a:p>
        </p:txBody>
      </p:sp>
      <p:sp>
        <p:nvSpPr>
          <p:cNvPr id="46" name="Text 40"/>
          <p:cNvSpPr/>
          <p:nvPr/>
        </p:nvSpPr>
        <p:spPr>
          <a:xfrm>
            <a:off x="5852160" y="5440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captures real e-commerce session behavior — ideal for purchase intent classification. Limitation: heavily imbalanced (~84.5% non-purchase sessions), requiring careful evaluation with F1/Kappa metrics.</a:t>
            </a:r>
            <a:endParaRPr lang="en-US" sz="130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BE243145-1D9B-D3CF-9A24-9EDBCAA518A9}"/>
              </a:ext>
            </a:extLst>
          </p:cNvPr>
          <p:cNvSpPr/>
          <p:nvPr/>
        </p:nvSpPr>
        <p:spPr>
          <a:xfrm>
            <a:off x="822960" y="511743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43055" y="6400800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68580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Exploration &amp; Key Insights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4592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before any modeling happens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COVER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317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14400" y="2670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 sessions; 84.5% non-purchase (False), 15.5% purchase (True). Numeric features include Administrative, Informational, and ProductRelated page counts and durations. No missing values found.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14400" y="3813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AutoViz generated distributions and correlation heatmaps. ProductRelated_Duration and BounceRates showed strong visual separation between classes.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177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trends &amp; outliers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4400" y="4956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class imbalance (85/15 split). ProductRelated_Duration, ExitRates, and PageValues were the most discriminating features. Weekend and Region showed low variance across classes.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669280" y="1828800"/>
            <a:ext cx="6035040" cy="4434840"/>
          </a:xfrm>
          <a:prstGeom prst="rect">
            <a:avLst/>
          </a:prstGeom>
          <a:solidFill>
            <a:srgbClr val="F7F8FB"/>
          </a:solidFill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5669280" y="1828800"/>
            <a:ext cx="9144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223260"/>
            <a:ext cx="731520" cy="7315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69280" y="40005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AutoViz output or histogram/heatmap screenshot here ]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5669280" y="44119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· Correlation heatmap · Scatter · etc.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AB2F663-BDA9-59D2-0852-C9CAD0A79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1813151"/>
            <a:ext cx="6035040" cy="4440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PREPARATION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43055" y="6400800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68580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Feature Engineering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4592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dataframe to model-ready matrix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192024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1920240"/>
            <a:ext cx="3703320" cy="9601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20299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1828800" y="20299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" y="3108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were found in this dataset. The Pipeline includes a SimpleImputer(strategy=“median”) for numerics and SimpleImputer(strategy=“most_frequent”) for categoricals as a safeguard.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297680" y="192024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297680" y="1920240"/>
            <a:ext cx="3703320" cy="9601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2000" y="20299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30" name="Text 27"/>
          <p:cNvSpPr/>
          <p:nvPr/>
        </p:nvSpPr>
        <p:spPr>
          <a:xfrm>
            <a:off x="5669280" y="20299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Discretization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572000" y="3108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VisitorType was one-hot encoded using pd.get_dummies(drop_first=True). Month was handled by the Pipeline’s OneHotEncoder. No scaling was applied (Random Forest is scale-invariant).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429760" y="49377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389120" y="5212080"/>
            <a:ext cx="1243584" cy="320040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389120" y="52120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get_dummies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724144" y="5212080"/>
            <a:ext cx="1344168" cy="320040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24144" y="5212080"/>
            <a:ext cx="134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LabelEncoder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59752" y="5212080"/>
            <a:ext cx="740664" cy="320040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159752" y="5212080"/>
            <a:ext cx="74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pd.cut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138160" y="1920240"/>
            <a:ext cx="3703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8138160" y="1920240"/>
            <a:ext cx="3703320" cy="9601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412480" y="20299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42" name="Text 39"/>
          <p:cNvSpPr/>
          <p:nvPr/>
        </p:nvSpPr>
        <p:spPr>
          <a:xfrm>
            <a:off x="9509760" y="20299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Creation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412480" y="3108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features created. Five columns were dropped: OperatingSystems, Browser, TrafficType, Weekend, and Region because they were judged as low-signal for predicting purchase intent.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412480" y="49377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412480" y="521208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412480" y="5212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9144000" y="5212080"/>
            <a:ext cx="941832" cy="320040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9144000" y="5212080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177272" y="5212080"/>
            <a:ext cx="1243584" cy="320040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10177272" y="52120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</a:t>
            </a:r>
            <a:endParaRPr lang="en-US" sz="1000" dirty="0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4" y="3931920"/>
            <a:ext cx="274320" cy="274320"/>
          </a:xfrm>
          <a:prstGeom prst="rect">
            <a:avLst/>
          </a:prstGeom>
        </p:spPr>
      </p:pic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393192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43055" y="6400800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68580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 &amp; Method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4592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algorithm, the reasoning, the tooling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4754880" cy="43891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  <a:effectLst>
            <a:outerShdw blurRad="177800" dist="508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1828800"/>
            <a:ext cx="731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2423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731520" y="3749040"/>
            <a:ext cx="4297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152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152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Ensemble · Tree-based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" y="4754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XGBoost · SVM 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577840" y="1828800"/>
            <a:ext cx="6126480" cy="21031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577840" y="1828800"/>
            <a:ext cx="91440" cy="2103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62940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Choice?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5897880" y="2834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due to averages of trees · handles mixed feature types · captures non-linear relationships · gives feature importance · does not need standardization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577840" y="4114800"/>
            <a:ext cx="6126480" cy="21031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577840" y="4114800"/>
            <a:ext cx="91440" cy="2103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434840"/>
            <a:ext cx="548640" cy="5486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629400" y="4389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897880" y="5257800"/>
            <a:ext cx="106070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5897880" y="5257800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PyCaret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068312" y="5257800"/>
            <a:ext cx="165506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7068312" y="525780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833104" y="5257800"/>
            <a:ext cx="941832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8833104" y="5257800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9884664" y="5257800"/>
            <a:ext cx="141732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9884664" y="5257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5897880" y="5737860"/>
            <a:ext cx="70408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5897880" y="5737860"/>
            <a:ext cx="70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EVALUATION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68580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&amp; Tuning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4592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works — and how you made it better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377440" cy="18288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1828800"/>
            <a:ext cx="237744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45720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971800" y="1828800"/>
            <a:ext cx="2377440" cy="18288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971800" y="1828800"/>
            <a:ext cx="237744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97180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0.9223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297180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089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2377440" cy="18288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57200" y="3794760"/>
            <a:ext cx="237744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3977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</a:t>
            </a:r>
            <a:endParaRPr lang="en-US" sz="4400" dirty="0"/>
          </a:p>
        </p:txBody>
      </p:sp>
      <p:sp>
        <p:nvSpPr>
          <p:cNvPr id="28" name="Text 25"/>
          <p:cNvSpPr/>
          <p:nvPr/>
        </p:nvSpPr>
        <p:spPr>
          <a:xfrm>
            <a:off x="457200" y="4892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43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971800" y="3794760"/>
            <a:ext cx="2377440" cy="18288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971800" y="3794760"/>
            <a:ext cx="237744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971800" y="3977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0.56</a:t>
            </a:r>
            <a:endParaRPr lang="en-US" sz="4400" dirty="0"/>
          </a:p>
        </p:txBody>
      </p:sp>
      <p:sp>
        <p:nvSpPr>
          <p:cNvPr id="33" name="Text 30"/>
          <p:cNvSpPr/>
          <p:nvPr/>
        </p:nvSpPr>
        <p:spPr>
          <a:xfrm>
            <a:off x="2971800" y="4892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1089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5715000"/>
            <a:ext cx="4892040" cy="7772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57200" y="5715000"/>
            <a:ext cx="91440" cy="777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85800" y="5946405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GridSearchCV (5-fold CV, f1_weighted). Grid: n_estimators=[100,200], max_depth=[None,5,10], min_samples_split=[2,5], min_samples_leaf=[1,2]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85800" y="606247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EF9BBB0-6ACC-F7CD-CB84-D5A2F9C22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199" y="2164357"/>
            <a:ext cx="3576874" cy="355064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EACC4B-D336-D260-2907-56294942D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640" y="2433828"/>
            <a:ext cx="3052056" cy="2904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INTERPRETATION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43055" y="6400800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68580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&amp; Interpretation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4592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the predictions, and what it means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728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PageValues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97280" y="2651760"/>
            <a:ext cx="393192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97280" y="2651760"/>
            <a:ext cx="3342132" cy="1645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9728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ExitRates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97280" y="3383280"/>
            <a:ext cx="393192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97280" y="3383280"/>
            <a:ext cx="2437790" cy="1645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9728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ProductRelated_Duration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97280" y="4114800"/>
            <a:ext cx="393192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097280" y="4114800"/>
            <a:ext cx="1887322" cy="1645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57200" y="4572000"/>
            <a:ext cx="457200" cy="45720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97280" y="4480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BounceRates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97280" y="4846320"/>
            <a:ext cx="393192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97280" y="4846320"/>
            <a:ext cx="1336853" cy="1645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97280" y="5212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(November)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097280" y="5577840"/>
            <a:ext cx="393192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097280" y="5577840"/>
            <a:ext cx="865022" cy="1645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5486400" y="1828800"/>
            <a:ext cx="6217920" cy="2834640"/>
          </a:xfrm>
          <a:prstGeom prst="rect">
            <a:avLst/>
          </a:prstGeom>
          <a:solidFill>
            <a:srgbClr val="F7F8FB"/>
          </a:solidFill>
          <a:ln w="190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486400" y="1828800"/>
            <a:ext cx="9144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606040"/>
            <a:ext cx="640080" cy="64008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5486400" y="3383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top 15 feature importance bar chart from notebook ]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5486400" y="4719320"/>
            <a:ext cx="6217920" cy="1645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5486400" y="4719320"/>
            <a:ext cx="91440" cy="163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5760720" y="4856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5760720" y="5135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 is the strongest predictor. Pages with high monetary value strongly influence purchase intent. High ExitRates and </a:t>
            </a:r>
            <a:r>
              <a:rPr lang="en-US" sz="13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BounceRates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users who leave quickly are less likely to buy. ProductRelated_Duration confirms that time spent on product pages correlates with conversion. November being significant aligns with Black Friday/Cyber Monday shopping behavior. These results match business intuition well.</a:t>
            </a:r>
            <a:endParaRPr lang="en-US" sz="13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CC56288-6A10-E465-71C7-6F7E00851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9" y="1801368"/>
            <a:ext cx="6248095" cy="2862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REFLECTION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43055" y="6400800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68580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731520"/>
            <a:ext cx="731520" cy="73152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89611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4592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imperfect, what’s next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3767328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1828800"/>
            <a:ext cx="3767328" cy="109728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792224" y="2240280"/>
            <a:ext cx="1097280" cy="109728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61688" y="1828800"/>
            <a:ext cx="3767328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61688" y="1828800"/>
            <a:ext cx="3767328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696712" y="2240280"/>
            <a:ext cx="1097280" cy="10972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266176" y="1828800"/>
            <a:ext cx="3767328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266176" y="1828800"/>
            <a:ext cx="3767328" cy="109728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601200" y="2240280"/>
            <a:ext cx="1097280" cy="1097280"/>
          </a:xfrm>
          <a:prstGeom prst="ellipse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24" y="2468880"/>
            <a:ext cx="640080" cy="64008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468880"/>
            <a:ext cx="640080" cy="64008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246888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" y="3611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" y="393192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Limitations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1975104" y="4434840"/>
            <a:ext cx="73152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77240" y="4617720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(~85% non-purchase) makes the minority class harder to predict — recall for buyers is lower than precision, meaning that the model is “playing it safe” and letting 44% of potential sales pass. It also means that the model is making fewer false alarms 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636008" y="3611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BIAS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636008" y="393192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Issues &amp; Bias</a:t>
            </a: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5879592" y="4434840"/>
            <a:ext cx="73152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681728" y="4617720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lacks demographic info, limiting fairness analysis. Behavioral data (bounce rates, page durations) can be manipulated by bots, introducing noise. Data is from a single retailer and may not generalize across industries.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540496" y="3611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540496" y="393192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37" name="Shape 31"/>
          <p:cNvSpPr/>
          <p:nvPr/>
        </p:nvSpPr>
        <p:spPr>
          <a:xfrm>
            <a:off x="9784080" y="4434840"/>
            <a:ext cx="73152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8586216" y="4617720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features  – Time/page ratios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Session depth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users to see what shoppers look for while making shopping decisions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with newer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CATAWBA COLLEGE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6895" y="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REFERENCES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43055" y="6400800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643055" y="6821424"/>
            <a:ext cx="228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· Final Project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400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777240"/>
            <a:ext cx="73152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822960"/>
            <a:ext cx="731520" cy="7315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98755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Acknowledgments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645920" y="12618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use of AI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331720"/>
            <a:ext cx="1371600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Sakar, C.O. et al. (2019). Neural Computing and Applications. UCI ML Repository. https://archive.ics.uci.edu/ml/datasets/Online+Shoppers+Purchasing+Intention+Dataset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7360" y="3012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mirror: https://www.kaggle.com/datasets/henrysue/online-shoppers-intention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40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documentation. RandomForestClassifier, GridSearchCV, Pipeline. https://scikit-learn.org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251960"/>
            <a:ext cx="1371600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57200" y="4480560"/>
            <a:ext cx="941832" cy="365760"/>
          </a:xfrm>
          <a:prstGeom prst="roundRect">
            <a:avLst>
              <a:gd name="adj" fmla="val 20000"/>
            </a:avLst>
          </a:prstGeom>
          <a:solidFill>
            <a:srgbClr val="001F5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4480560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508760" y="4480560"/>
            <a:ext cx="1060704" cy="365760"/>
          </a:xfrm>
          <a:prstGeom prst="roundRect">
            <a:avLst>
              <a:gd name="adj" fmla="val 20000"/>
            </a:avLst>
          </a:prstGeom>
          <a:solidFill>
            <a:srgbClr val="001F5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508760" y="448056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PyCaret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679192" y="4480560"/>
            <a:ext cx="1655064" cy="365760"/>
          </a:xfrm>
          <a:prstGeom prst="roundRect">
            <a:avLst>
              <a:gd name="adj" fmla="val 20000"/>
            </a:avLst>
          </a:prstGeom>
          <a:solidFill>
            <a:srgbClr val="001F5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679192" y="448056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43984" y="4480560"/>
            <a:ext cx="941832" cy="365760"/>
          </a:xfrm>
          <a:prstGeom prst="roundRect">
            <a:avLst>
              <a:gd name="adj" fmla="val 20000"/>
            </a:avLst>
          </a:prstGeom>
          <a:solidFill>
            <a:srgbClr val="001F5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443984" y="4480560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983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01F5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57200" y="4983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984248" y="4983480"/>
            <a:ext cx="1060704" cy="365760"/>
          </a:xfrm>
          <a:prstGeom prst="roundRect">
            <a:avLst>
              <a:gd name="adj" fmla="val 20000"/>
            </a:avLst>
          </a:prstGeom>
          <a:solidFill>
            <a:srgbClr val="001F5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984248" y="49834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AutoViz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943600" y="2011680"/>
            <a:ext cx="5760720" cy="2286000"/>
          </a:xfrm>
          <a:prstGeom prst="rect">
            <a:avLst/>
          </a:prstGeom>
          <a:solidFill>
            <a:srgbClr val="00143D"/>
          </a:solidFill>
          <a:ln w="9525">
            <a:solidFill>
              <a:srgbClr val="1A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943600" y="2011680"/>
            <a:ext cx="91440" cy="2286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2636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636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view code, data &amp; notebooks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26364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github.com/arosales23/CIS-3902-AI-ML-ARA-OnlinePurchasingIntent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2636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· Pull Requests welcome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875520" y="2286000"/>
            <a:ext cx="1737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9875520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 ]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943600" y="4572000"/>
            <a:ext cx="5760720" cy="1737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846320"/>
            <a:ext cx="548640" cy="54864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694944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694944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welcome.</a:t>
            </a:r>
            <a:endParaRPr lang="en-US" sz="2200" dirty="0"/>
          </a:p>
        </p:txBody>
      </p:sp>
      <p:sp>
        <p:nvSpPr>
          <p:cNvPr id="50" name="Text 46"/>
          <p:cNvSpPr/>
          <p:nvPr/>
        </p:nvSpPr>
        <p:spPr>
          <a:xfrm>
            <a:off x="626364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the course instructor for the project template, dataset provided by UCI ML Repository, AutoViz library used for exploratory analysis.</a:t>
            </a:r>
            <a:endParaRPr lang="en-US" sz="1100" dirty="0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7A09D08A-A5B6-D8E3-7DFC-53DB3D0A9065}"/>
              </a:ext>
            </a:extLst>
          </p:cNvPr>
          <p:cNvSpPr/>
          <p:nvPr/>
        </p:nvSpPr>
        <p:spPr>
          <a:xfrm>
            <a:off x="3151632" y="4981447"/>
            <a:ext cx="1060704" cy="365760"/>
          </a:xfrm>
          <a:prstGeom prst="roundRect">
            <a:avLst>
              <a:gd name="adj" fmla="val 20000"/>
            </a:avLst>
          </a:prstGeom>
          <a:solidFill>
            <a:srgbClr val="001F5B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endParaRPr lang="en-US" sz="1100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52" name="Text 34">
            <a:extLst>
              <a:ext uri="{FF2B5EF4-FFF2-40B4-BE49-F238E27FC236}">
                <a16:creationId xmlns:a16="http://schemas.microsoft.com/office/drawing/2014/main" id="{517451F6-8C84-E9AE-0EFB-7FBFB1AFF54A}"/>
              </a:ext>
            </a:extLst>
          </p:cNvPr>
          <p:cNvSpPr/>
          <p:nvPr/>
        </p:nvSpPr>
        <p:spPr>
          <a:xfrm>
            <a:off x="3151632" y="49834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30B372C-72FC-639A-30B6-1FFEC55D2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270760"/>
            <a:ext cx="5942076" cy="2161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5499</TotalTime>
  <Words>1253</Words>
  <Application>Microsoft Office PowerPoint</Application>
  <PresentationFormat>Widescreen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Final Project Template</dc:title>
  <dc:subject>PptxGenJS Presentation</dc:subject>
  <dc:creator>Catawba College</dc:creator>
  <cp:lastModifiedBy>Rosales-Aveldanez, Alan</cp:lastModifiedBy>
  <cp:revision>12</cp:revision>
  <dcterms:created xsi:type="dcterms:W3CDTF">2026-04-20T02:26:41Z</dcterms:created>
  <dcterms:modified xsi:type="dcterms:W3CDTF">2026-04-29T15:47:46Z</dcterms:modified>
</cp:coreProperties>
</file>